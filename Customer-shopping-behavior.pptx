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League Spartan Bold"/>
      <p:regular r:id="rId201314"/>
    </p:embeddedFont>
    <p:embeddedFont>
      <p:font typeface="Red Hat Text SemiBold"/>
      <p:regular r:id="rId201315"/>
    </p:embeddedFont>
    <p:embeddedFont>
      <p:font typeface="Red Hat Text Bold"/>
      <p:regular r:id="rId201316"/>
    </p:embeddedFont>
    <p:embeddedFont>
      <p:font typeface="Red Hat Text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B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916">
              <a:alpha val="4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B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7137221" cy="2316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6400" b="1" spc="-128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0"/>
              </a:rPr>
              <a:t>Customer shopping behavior:</a:t>
            </a:r>
            <a:endParaRPr lang="en-US" sz="64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6400" b="1" spc="-128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0"/>
              </a:rPr>
              <a:t>what the data says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609585" y="3178373"/>
            <a:ext cx="4781827" cy="31651"/>
          </a:xfrm>
          <a:prstGeom prst="roundRect">
            <a:avLst>
              <a:gd name="adj" fmla="val 49998"/>
            </a:avLst>
          </a:prstGeom>
          <a:solidFill>
            <a:srgbClr val="989896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3444438"/>
            <a:ext cx="713722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3,900 purchases reveal who spends, what sells, and where retention and margin opportunities sit.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07412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b="1" spc="-51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0"/>
              </a:rPr>
              <a:t>The dataset is broad enough to separate behavior from noise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58786" y="3100784"/>
            <a:ext cx="338654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3,900 purchases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86" y="3569414"/>
            <a:ext cx="3386549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Across 18 columns, 25 products, 4 categories, 50 locations, and 4 seasons.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02523" y="3100784"/>
            <a:ext cx="338654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$59.76 average purchase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402523" y="3569414"/>
            <a:ext cx="338654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Average review rating: 3.75.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46261" y="3100784"/>
            <a:ext cx="338664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37 ratings imputed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46261" y="3569414"/>
            <a:ext cx="338664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Missing review ratings were imputed by product-category median.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8786" y="6098480"/>
            <a:ext cx="1163290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Source: Customer Shopping Behavior Analysis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07412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b="1" spc="-51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0"/>
              </a:rPr>
              <a:t>Revenue is concentrated among male customers in this sample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58786" y="2034302"/>
            <a:ext cx="707789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Revenue by gender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" y="2439095"/>
            <a:ext cx="7077890" cy="30422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93865" y="2446165"/>
            <a:ext cx="353904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A39C8E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0"/>
              </a:rPr>
              <a:t>SAMPLE SIGNAL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093865" y="2709307"/>
            <a:ext cx="3539044" cy="772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6400" b="1" spc="-128" kern="100" dirty="0">
                <a:solidFill>
                  <a:srgbClr val="E85A3C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0"/>
              </a:rPr>
              <a:t>$157,890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8093865" y="3682722"/>
            <a:ext cx="353904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Male-customer revenue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093865" y="4054177"/>
            <a:ext cx="3538945" cy="31651"/>
          </a:xfrm>
          <a:prstGeom prst="roundRect">
            <a:avLst>
              <a:gd name="adj" fmla="val 49998"/>
            </a:avLst>
          </a:prstGeom>
          <a:solidFill>
            <a:srgbClr val="908B81"/>
          </a:solidFill>
          <a:ln/>
        </p:spPr>
      </p:sp>
      <p:sp>
        <p:nvSpPr>
          <p:cNvPr id="9" name="Text 6"/>
          <p:cNvSpPr/>
          <p:nvPr/>
        </p:nvSpPr>
        <p:spPr>
          <a:xfrm>
            <a:off x="8093865" y="4256107"/>
            <a:ext cx="353904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$75,191 female-customer revenue.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93865" y="4666456"/>
            <a:ext cx="353904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Use the gap as a targeting signal, not as a demographic conclusion beyond this dataset.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58786" y="6098480"/>
            <a:ext cx="1163290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Source: Customer Shopping Behavior Analysis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b="1" spc="-51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0"/>
              </a:rPr>
              <a:t>Young adults lead revenue, but no age group is far behind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58786" y="1818402"/>
            <a:ext cx="707789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Revenue by age group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" y="2223195"/>
            <a:ext cx="7077890" cy="30422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93865" y="2384881"/>
            <a:ext cx="353904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D9D3C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$62,143</a:t>
            </a:r>
            <a:endParaRPr lang="en-US" sz="1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Young Adult revenue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093865" y="3111202"/>
            <a:ext cx="1167875" cy="31651"/>
          </a:xfrm>
          <a:prstGeom prst="roundRect">
            <a:avLst>
              <a:gd name="adj" fmla="val 49998"/>
            </a:avLst>
          </a:prstGeom>
          <a:solidFill>
            <a:srgbClr val="908B81"/>
          </a:solidFill>
          <a:ln/>
        </p:spPr>
      </p:sp>
      <p:sp>
        <p:nvSpPr>
          <p:cNvPr id="7" name="Text 4"/>
          <p:cNvSpPr/>
          <p:nvPr/>
        </p:nvSpPr>
        <p:spPr>
          <a:xfrm>
            <a:off x="8093865" y="3313132"/>
            <a:ext cx="3539044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Middle-aged: $59,197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Adult: $55,978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Senior: $55,763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93865" y="4292401"/>
            <a:ext cx="353904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Prioritize young adults while keeping broad lifecycle coverage.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58786" y="6098480"/>
            <a:ext cx="1163290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Source: Customer Shopping Behavior Analysis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b="1" spc="-51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0"/>
              </a:rPr>
              <a:t>Loyal customers are the engine of the dataset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58786" y="1818402"/>
            <a:ext cx="707789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Customer segments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" y="2223195"/>
            <a:ext cx="7077890" cy="30422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93865" y="1881610"/>
            <a:ext cx="353904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A39C8E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0"/>
              </a:rPr>
              <a:t>THE MIX IS DECISIVE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093865" y="2144752"/>
            <a:ext cx="3539044" cy="772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6400" b="1" spc="-128" kern="100" dirty="0">
                <a:solidFill>
                  <a:srgbClr val="E85A3C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0"/>
              </a:rPr>
              <a:t>3,116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8093865" y="3118167"/>
            <a:ext cx="353904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Loyal customers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093865" y="3489623"/>
            <a:ext cx="3538945" cy="31651"/>
          </a:xfrm>
          <a:prstGeom prst="roundRect">
            <a:avLst>
              <a:gd name="adj" fmla="val 49998"/>
            </a:avLst>
          </a:prstGeom>
          <a:solidFill>
            <a:srgbClr val="908B81"/>
          </a:solidFill>
          <a:ln/>
        </p:spPr>
      </p:sp>
      <p:sp>
        <p:nvSpPr>
          <p:cNvPr id="9" name="Text 6"/>
          <p:cNvSpPr/>
          <p:nvPr/>
        </p:nvSpPr>
        <p:spPr>
          <a:xfrm>
            <a:off x="8093865" y="3691553"/>
            <a:ext cx="353904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Returning: 701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New: 83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93865" y="4386362"/>
            <a:ext cx="353904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The segment mix points toward retention and reactivation over pure acquisition. Define loyalty benefits that reward the next purchase, not only the first.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58786" y="6098480"/>
            <a:ext cx="1163290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Source: Customer Shopping Behavior Analysis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2A2621"/>
          </a:solidFill>
          <a:ln/>
        </p:spPr>
      </p:sp>
      <p:sp>
        <p:nvSpPr>
          <p:cNvPr id="3" name="Text 1"/>
          <p:cNvSpPr/>
          <p:nvPr/>
        </p:nvSpPr>
        <p:spPr>
          <a:xfrm>
            <a:off x="558786" y="558800"/>
            <a:ext cx="6197445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b="1" spc="-51" kern="100" dirty="0">
                <a:solidFill>
                  <a:srgbClr val="D9D3C6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0"/>
              </a:rPr>
              <a:t>Subscriptions have reach, but not a spending advantage yet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86" y="3579376"/>
            <a:ext cx="619744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Subscription status covers </a:t>
            </a:r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D9D3C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27%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 of customers in the dashboard view.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58786" y="4402534"/>
            <a:ext cx="6197445" cy="1321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Subscribers: 1,053 customers, $62,645 total revenue, $59.49 average spend.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Non-subscribers: 2,847 customers, $170,436 total revenue, $59.87 average spend.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8786" y="5811838"/>
            <a:ext cx="6197445" cy="31651"/>
          </a:xfrm>
          <a:prstGeom prst="roundRect">
            <a:avLst>
              <a:gd name="adj" fmla="val 49998"/>
            </a:avLst>
          </a:prstGeom>
          <a:solidFill>
            <a:srgbClr val="837F77"/>
          </a:solidFill>
          <a:ln/>
        </p:spPr>
      </p:sp>
      <p:sp>
        <p:nvSpPr>
          <p:cNvPr id="7" name="Text 5"/>
          <p:cNvSpPr/>
          <p:nvPr/>
        </p:nvSpPr>
        <p:spPr>
          <a:xfrm>
            <a:off x="558786" y="6098381"/>
            <a:ext cx="675623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Meaningful adoption has not yet lifted average purchase value.</a:t>
            </a:r>
            <a:endParaRPr lang="en-US" sz="1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07412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b="1" spc="-51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0"/>
              </a:rPr>
              <a:t>Repeat buyers are more common outside the subscription program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58786" y="2034302"/>
            <a:ext cx="707789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Repeat buyers with more than five purchases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" y="2439095"/>
            <a:ext cx="7077890" cy="30422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93865" y="2303885"/>
            <a:ext cx="353904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A39C8E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0"/>
              </a:rPr>
              <a:t>CONVERSION POOL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093865" y="2567027"/>
            <a:ext cx="3539044" cy="772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6400" b="1" spc="-128" kern="100" dirty="0">
                <a:solidFill>
                  <a:srgbClr val="E85A3C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0"/>
              </a:rPr>
              <a:t>3,476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8093865" y="3540442"/>
            <a:ext cx="353904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Repeat buyers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093865" y="3911898"/>
            <a:ext cx="3538945" cy="31651"/>
          </a:xfrm>
          <a:prstGeom prst="roundRect">
            <a:avLst>
              <a:gd name="adj" fmla="val 49998"/>
            </a:avLst>
          </a:prstGeom>
          <a:solidFill>
            <a:srgbClr val="908B81"/>
          </a:solidFill>
          <a:ln/>
        </p:spPr>
      </p:sp>
      <p:sp>
        <p:nvSpPr>
          <p:cNvPr id="9" name="Text 6"/>
          <p:cNvSpPr/>
          <p:nvPr/>
        </p:nvSpPr>
        <p:spPr>
          <a:xfrm>
            <a:off x="8093865" y="4113828"/>
            <a:ext cx="353904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2,518 non-subscribers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958 subscribers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93865" y="4808637"/>
            <a:ext cx="353904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The clearest opportunity is converting proven repeat behavior into subscription value.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58786" y="6098480"/>
            <a:ext cx="1163290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Source: Customer Shopping Behavior Analysis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1911747"/>
            <a:ext cx="6197445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b="1" spc="-51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0"/>
              </a:rPr>
              <a:t>Clothing is the commercial center of the assortment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58786" y="2979499"/>
            <a:ext cx="619744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The Power BI dashboard ranks </a:t>
            </a:r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E85A3C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Clothing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 highest in both revenue and sales among the four categories.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58786" y="3802975"/>
            <a:ext cx="619744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Accessories, Footwear, and Outerwear follow in the dashboard ranking.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58786" y="4458891"/>
            <a:ext cx="2045145" cy="31651"/>
          </a:xfrm>
          <a:prstGeom prst="roundRect">
            <a:avLst>
              <a:gd name="adj" fmla="val 49998"/>
            </a:avLst>
          </a:prstGeom>
          <a:solidFill>
            <a:srgbClr val="908B81"/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4745434"/>
            <a:ext cx="675623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Use Clothing to anchor campaigns, then cross-sell adjacent categories.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2A262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611" y="1873250"/>
            <a:ext cx="4063898" cy="3111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07412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b="1" spc="-51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0"/>
              </a:rPr>
              <a:t>Best sellers vary by category, creating clear merchandising hooks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" y="2139652"/>
            <a:ext cx="507987" cy="50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8786" y="2776240"/>
            <a:ext cx="530846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Accessories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58786" y="3244870"/>
            <a:ext cx="553706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Jewelry, Sunglasses, Belt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2" y="2139652"/>
            <a:ext cx="507987" cy="508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24442" y="2776240"/>
            <a:ext cx="530846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Clothing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324442" y="3244870"/>
            <a:ext cx="530846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Blouse, Pants, Shirt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3986213"/>
            <a:ext cx="507987" cy="508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8786" y="4622800"/>
            <a:ext cx="530846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Footwear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558786" y="5091430"/>
            <a:ext cx="553706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Sandals, Shoes, Sneakers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3986213"/>
            <a:ext cx="507987" cy="508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24442" y="4622800"/>
            <a:ext cx="530846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Outerwear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6324442" y="5091430"/>
            <a:ext cx="530846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Jacket, Coat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558786" y="6098381"/>
            <a:ext cx="1163290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Category-specific leaders create distinct merchandising hooks, rather than one universal best-seller story.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089498" y="2139652"/>
            <a:ext cx="12700" cy="1617960"/>
          </a:xfrm>
          <a:prstGeom prst="rect">
            <a:avLst/>
          </a:prstGeom>
          <a:solidFill>
            <a:srgbClr val="6A655C"/>
          </a:solidFill>
          <a:ln/>
        </p:spPr>
      </p:sp>
      <p:sp>
        <p:nvSpPr>
          <p:cNvPr id="17" name="Shape 11"/>
          <p:cNvSpPr/>
          <p:nvPr/>
        </p:nvSpPr>
        <p:spPr>
          <a:xfrm>
            <a:off x="558786" y="3751263"/>
            <a:ext cx="5537061" cy="12700"/>
          </a:xfrm>
          <a:prstGeom prst="rect">
            <a:avLst/>
          </a:prstGeom>
          <a:solidFill>
            <a:srgbClr val="6A655C"/>
          </a:solidFill>
          <a:ln/>
        </p:spPr>
      </p:sp>
      <p:sp>
        <p:nvSpPr>
          <p:cNvPr id="18" name="Shape 12"/>
          <p:cNvSpPr/>
          <p:nvPr/>
        </p:nvSpPr>
        <p:spPr>
          <a:xfrm>
            <a:off x="6089498" y="3757612"/>
            <a:ext cx="12700" cy="1617960"/>
          </a:xfrm>
          <a:prstGeom prst="rect">
            <a:avLst/>
          </a:prstGeom>
          <a:solidFill>
            <a:srgbClr val="6A655C"/>
          </a:solidFill>
          <a:ln/>
        </p:spPr>
      </p:sp>
      <p:sp>
        <p:nvSpPr>
          <p:cNvPr id="19" name="Shape 13"/>
          <p:cNvSpPr/>
          <p:nvPr/>
        </p:nvSpPr>
        <p:spPr>
          <a:xfrm>
            <a:off x="6095848" y="3751263"/>
            <a:ext cx="5537061" cy="12700"/>
          </a:xfrm>
          <a:prstGeom prst="rect">
            <a:avLst/>
          </a:prstGeom>
          <a:solidFill>
            <a:srgbClr val="6A655C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1118691"/>
            <a:ext cx="6603835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b="1" spc="-51" kern="100" dirty="0">
                <a:solidFill>
                  <a:srgbClr val="EFE8D8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0"/>
              </a:rPr>
              <a:t>Top-rated products are not identical to top-selling products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58786" y="2185809"/>
            <a:ext cx="716262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Top five products by average rating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" y="2654102"/>
            <a:ext cx="6603835" cy="27962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786" y="5538490"/>
            <a:ext cx="716262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39C8E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All five products cluster between 3.78 and 3.86.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2A262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0001" y="228600"/>
            <a:ext cx="4013100" cy="507255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950001" y="5388471"/>
            <a:ext cx="4013000" cy="31651"/>
          </a:xfrm>
          <a:prstGeom prst="roundRect">
            <a:avLst>
              <a:gd name="adj" fmla="val 49998"/>
            </a:avLst>
          </a:prstGeom>
          <a:solidFill>
            <a:srgbClr val="837F77"/>
          </a:solidFill>
          <a:ln/>
        </p:spPr>
      </p:sp>
      <p:sp>
        <p:nvSpPr>
          <p:cNvPr id="9" name="Text 5"/>
          <p:cNvSpPr/>
          <p:nvPr/>
        </p:nvSpPr>
        <p:spPr>
          <a:xfrm>
            <a:off x="7950001" y="5670411"/>
            <a:ext cx="4013100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D9D3C6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Use ratings to build quality-led campaigns alongside volume-led best-seller campaigns.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2026-10-24T14:28:43Z</dcterms:created>
  <dcterms:modified xsi:type="dcterms:W3CDTF">2026-10-24T14:28:43Z</dcterms:modified>
</cp:coreProperties>
</file>